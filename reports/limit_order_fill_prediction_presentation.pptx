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e16679d1fc4196" /><Relationship Type="http://schemas.openxmlformats.org/officeDocument/2006/relationships/extended-properties" Target="/docProps/app.xml" Id="R5220673dfafd42a6" /><Relationship Type="http://schemas.openxmlformats.org/officeDocument/2006/relationships/officeDocument" Target="/ppt/presentation.xml" Id="R914c441c0c60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555429df54727"/>
  </p:sldMasterIdLst>
  <p:notesMasterIdLst>
    <p:notesMasterId xmlns:r="http://schemas.openxmlformats.org/officeDocument/2006/relationships" r:id="Re49a58b464814bf1"/>
  </p:notesMasterIdLst>
  <p:sldIdLst>
    <p:sldId xmlns:r="http://schemas.openxmlformats.org/officeDocument/2006/relationships" id="256" r:id="R4db539f5739145cb"/>
    <p:sldId xmlns:r="http://schemas.openxmlformats.org/officeDocument/2006/relationships" id="257" r:id="R7e89bc08c2004d6b"/>
    <p:sldId xmlns:r="http://schemas.openxmlformats.org/officeDocument/2006/relationships" id="258" r:id="R1a95f31a89544813"/>
    <p:sldId xmlns:r="http://schemas.openxmlformats.org/officeDocument/2006/relationships" id="259" r:id="R9bf6e529ca934407"/>
    <p:sldId xmlns:r="http://schemas.openxmlformats.org/officeDocument/2006/relationships" id="260" r:id="R3cb221a3c38d403c"/>
    <p:sldId xmlns:r="http://schemas.openxmlformats.org/officeDocument/2006/relationships" id="261" r:id="R667e23face8e43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57f7bd47b547b0" /><Relationship Type="http://schemas.openxmlformats.org/officeDocument/2006/relationships/slideMaster" Target="/ppt/slideMasters/slideMaster1.xml" Id="R15d555429df54727" /><Relationship Type="http://schemas.openxmlformats.org/officeDocument/2006/relationships/notesMaster" Target="/ppt/notesMasters/notesMaster1.xml" Id="Re49a58b464814bf1" /><Relationship Type="http://schemas.openxmlformats.org/officeDocument/2006/relationships/presProps" Target="/ppt/presProps.xml" Id="Rfe11968cdb1446ab" /><Relationship Type="http://schemas.openxmlformats.org/officeDocument/2006/relationships/tableStyles" Target="/ppt/tableStyles.xml" Id="R4f1b09771e294512" /><Relationship Type="http://schemas.openxmlformats.org/officeDocument/2006/relationships/slide" Target="/ppt/slides/slide1.xml" Id="R4db539f5739145cb" /><Relationship Type="http://schemas.openxmlformats.org/officeDocument/2006/relationships/slide" Target="/ppt/slides/slide2.xml" Id="R7e89bc08c2004d6b" /><Relationship Type="http://schemas.openxmlformats.org/officeDocument/2006/relationships/slide" Target="/ppt/slides/slide3.xml" Id="R1a95f31a89544813" /><Relationship Type="http://schemas.openxmlformats.org/officeDocument/2006/relationships/slide" Target="/ppt/slides/slide4.xml" Id="R9bf6e529ca934407" /><Relationship Type="http://schemas.openxmlformats.org/officeDocument/2006/relationships/slide" Target="/ppt/slides/slide5.xml" Id="R3cb221a3c38d403c" /><Relationship Type="http://schemas.openxmlformats.org/officeDocument/2006/relationships/slide" Target="/ppt/slides/slide6.xml" Id="R667e23face8e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feaca16e6f4b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a43f20c210465a" /><Relationship Type="http://schemas.openxmlformats.org/officeDocument/2006/relationships/notesMaster" Target="/ppt/notesMasters/notesMaster1.xml" Id="R3d1368e8e279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fa5aa4ee094c35" /><Relationship Type="http://schemas.openxmlformats.org/officeDocument/2006/relationships/notesMaster" Target="/ppt/notesMasters/notesMaster1.xml" Id="Rbf1c40473eb64e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ba3a70ebef4589" /><Relationship Type="http://schemas.openxmlformats.org/officeDocument/2006/relationships/notesMaster" Target="/ppt/notesMasters/notesMaster1.xml" Id="Rad9ed5fd214f4b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1e26366876494b" /><Relationship Type="http://schemas.openxmlformats.org/officeDocument/2006/relationships/notesMaster" Target="/ppt/notesMasters/notesMaster1.xml" Id="Rbc7126b563ac49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171316ca9440fa" /><Relationship Type="http://schemas.openxmlformats.org/officeDocument/2006/relationships/notesMaster" Target="/ppt/notesMasters/notesMaster1.xml" Id="R02f21e0d7ecd40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33cadeaff4b75" /><Relationship Type="http://schemas.openxmlformats.org/officeDocument/2006/relationships/notesMaster" Target="/ppt/notesMasters/notesMaster1.xml" Id="Rc4d3081fe13a48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AI_Order_Execution_Project.pdf, pages 1-2 and 7.</a:t>
            </a:r>
          </a:p>
          <a:p xmlns:a="http://schemas.openxmlformats.org/drawingml/2006/main">
            <a:r>
              <a:t>Source: README.md and notebooks 01-08.</a:t>
            </a:r>
          </a:p>
          <a:p xmlns:a="http://schemas.openxmlformats.org/drawingml/2006/main">
            <a:r>
              <a:t>The data are deterministic synthetic teaching data and do not represent live AAPL or Nasdaq execution.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AI_Order_Execution_Project.pdf, pages 2-4 and 6.</a:t>
            </a:r>
          </a:p>
          <a:p xmlns:a="http://schemas.openxmlformats.org/drawingml/2006/main">
            <a:r>
              <a:t>Sources: data audit and history feature notebooks 01 and 03.</a:t>
            </a:r>
          </a:p>
          <a:p xmlns:a="http://schemas.openxmlformats.org/drawingml/2006/main">
            <a:r>
              <a:t>Leakage controls: supplied chronological split, eligibility filtering before target use, no post-t0 features, and no test access before policy freeze.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results/rq1_model_comparison.csv.</a:t>
            </a:r>
          </a:p>
          <a:p xmlns:a="http://schemas.openxmlformats.org/drawingml/2006/main">
            <a:r>
              <a:t>Source for history conclusion: results/validation_candidate_summary.csv.</a:t>
            </a:r>
          </a:p>
          <a:p xmlns:a="http://schemas.openxmlformats.org/drawingml/2006/main">
            <a:r>
              <a:t>The labels show PR-AUC. Feature sets were selected independently within each model family for this comparison.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results/final_test_metrics.csv and results/validation_test_comparison.csv.</a:t>
            </a:r>
          </a:p>
          <a:p xmlns:a="http://schemas.openxmlformats.org/drawingml/2006/main">
            <a:r>
              <a:t>Frozen policy: Logistic Regression B at 5 seconds, Random Forest C at 30 and 60 seconds, each with sigmoid calibration.</a:t>
            </a:r>
          </a:p>
          <a:p xmlns:a="http://schemas.openxmlformats.org/drawingml/2006/main">
            <a:r>
              <a:t>Thresholds were selected on validation F1 before test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results/shap_local_explanations_30s.csv, results/decision_tree_paths_30s.csv and results/lime_stability_30s.csv.</a:t>
            </a:r>
          </a:p>
          <a:p xmlns:a="http://schemas.openxmlformats.org/drawingml/2006/main">
            <a:r>
              <a:t>SHAP values are probability contributions for feature set C Random Forest. Values shown are rounded.</a:t>
            </a:r>
          </a:p>
          <a:p xmlns:a="http://schemas.openxmlformats.org/drawingml/2006/main">
            <a:r>
              <a:t>SHAP and LIME explain model behavior and do not establish causality.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results/rq1_model_comparison.csv, results/validation_candidate_summary.csv, results/final_test_slice_metrics.csv and results/brief_completion_summary.json.</a:t>
            </a:r>
          </a:p>
          <a:p xmlns:a="http://schemas.openxmlformats.org/drawingml/2006/main">
            <a:r>
              <a:t>The survival-analysis extension remains optional and was not required for the completed fixed-horizon deliverables.</a:t>
            </a:r>
          </a:p>
          <a:p xmlns:a="http://schemas.openxmlformats.org/drawingml/2006/main">
            <a:r>
              <a:t>The findings apply to the supplied deterministic synthetic dataset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6362be8e7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03b3fa28e94542" /><Relationship Type="http://schemas.openxmlformats.org/officeDocument/2006/relationships/slideLayout" Target="/ppt/slideLayouts/slideLayout1.xml" Id="Rbff74e41352f44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f74e41352f44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599b5878d486f" /><Relationship Type="http://schemas.openxmlformats.org/officeDocument/2006/relationships/notesSlide" Target="/ppt/notesSlides/notesSlide1.xml" Id="R932ef7a44c114e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80ad3f6c04683" /><Relationship Type="http://schemas.openxmlformats.org/officeDocument/2006/relationships/notesSlide" Target="/ppt/notesSlides/notesSlide2.xml" Id="R3ee34e0e885d46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817d55e89647ed" /><Relationship Type="http://schemas.openxmlformats.org/officeDocument/2006/relationships/chart" Target="/ppt/slides/charts/chart1.xml" Id="Ra78b9a6bdff8425d" /><Relationship Type="http://schemas.openxmlformats.org/officeDocument/2006/relationships/notesSlide" Target="/ppt/notesSlides/notesSlide3.xml" Id="R258e1816fafb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2d2f8b95d42ac" /><Relationship Type="http://schemas.openxmlformats.org/officeDocument/2006/relationships/chart" Target="/ppt/slides/charts/chart2.xml" Id="Re29e61286e204391" /><Relationship Type="http://schemas.openxmlformats.org/officeDocument/2006/relationships/notesSlide" Target="/ppt/notesSlides/notesSlide4.xml" Id="R98104c01cf9846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ccb97d15f4dff" /><Relationship Type="http://schemas.openxmlformats.org/officeDocument/2006/relationships/image" Target="/ppt/media/image.png" Id="R83cda3217cb24808" /><Relationship Type="http://schemas.openxmlformats.org/officeDocument/2006/relationships/notesSlide" Target="/ppt/notesSlides/notesSlide5.xml" Id="R147468e1baad46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e3855034c48e7" /><Relationship Type="http://schemas.openxmlformats.org/officeDocument/2006/relationships/notesSlide" Target="/ppt/notesSlides/notesSlide6.xml" Id="R5cc9940ab7834117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Empirical</c:v>
          </c:tx>
          <c:spPr>
            <a:solidFill xmlns:a="http://schemas.openxmlformats.org/drawingml/2006/main">
              <a:srgbClr val="A9B8C7"/>
            </a:solidFill>
          </c:spPr>
          <c:cat>
            <c:strRef>
              <c:f>'Chart Data'!$A$2:$A$4</c:f>
              <c:strCache>
                <c:ptCount val="3"/>
                <c:pt idx="0">
                  <c:v>5 seconds</c:v>
                </c:pt>
                <c:pt idx="1">
                  <c:v>30 seconds</c:v>
                </c:pt>
                <c:pt idx="2">
                  <c:v>60 seconds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0.102</c:v>
                </c:pt>
                <c:pt idx="1">
                  <c:v>0.396</c:v>
                </c:pt>
                <c:pt idx="2">
                  <c:v>0.614</c:v>
                </c:pt>
              </c:numCache>
            </c:numRef>
          </c:val>
        </c:ser>
        <c:ser>
          <c:idx val="1"/>
          <c:order val="1"/>
          <c:tx>
            <c:v>Logistic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Data'!$C$2:$C$4</c:f>
              <c:strCache>
                <c:ptCount val="3"/>
                <c:pt idx="0">
                  <c:v>5 seconds</c:v>
                </c:pt>
                <c:pt idx="1">
                  <c:v>30 seconds</c:v>
                </c:pt>
                <c:pt idx="2">
                  <c:v>60 seconds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0.248</c:v>
                </c:pt>
                <c:pt idx="1">
                  <c:v>0.599</c:v>
                </c:pt>
                <c:pt idx="2">
                  <c:v>0.786</c:v>
                </c:pt>
              </c:numCache>
            </c:numRef>
          </c:val>
        </c:ser>
        <c:ser>
          <c:idx val="2"/>
          <c:order val="2"/>
          <c:tx>
            <c:v>Decision Tree</c:v>
          </c:tx>
          <c:spPr>
            <a:solidFill xmlns:a="http://schemas.openxmlformats.org/drawingml/2006/main">
              <a:srgbClr val="F29E4C"/>
            </a:solidFill>
          </c:spPr>
          <c:cat>
            <c:strRef>
              <c:f>'Chart Data'!$E$2:$E$4</c:f>
              <c:strCache>
                <c:ptCount val="3"/>
                <c:pt idx="0">
                  <c:v>5 seconds</c:v>
                </c:pt>
                <c:pt idx="1">
                  <c:v>30 seconds</c:v>
                </c:pt>
                <c:pt idx="2">
                  <c:v>60 seconds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0.192</c:v>
                </c:pt>
                <c:pt idx="1">
                  <c:v>0.54</c:v>
                </c:pt>
                <c:pt idx="2">
                  <c:v>0.729</c:v>
                </c:pt>
              </c:numCache>
            </c:numRef>
          </c:val>
        </c:ser>
        <c:ser>
          <c:idx val="3"/>
          <c:order val="3"/>
          <c:tx>
            <c:v>Random Forest</c:v>
          </c:tx>
          <c:spPr>
            <a:solidFill xmlns:a="http://schemas.openxmlformats.org/drawingml/2006/main">
              <a:srgbClr val="18A999"/>
            </a:solidFill>
          </c:spPr>
          <c:cat>
            <c:strRef>
              <c:f>'Chart Data'!$G$2:$G$4</c:f>
              <c:strCache>
                <c:ptCount val="3"/>
                <c:pt idx="0">
                  <c:v>5 seconds</c:v>
                </c:pt>
                <c:pt idx="1">
                  <c:v>30 seconds</c:v>
                </c:pt>
                <c:pt idx="2">
                  <c:v>60 seconds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0.235</c:v>
                </c:pt>
                <c:pt idx="1">
                  <c:v>0.598</c:v>
                </c:pt>
                <c:pt idx="2">
                  <c:v>0.789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243B5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43B53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Validation</c:v>
          </c:tx>
          <c:spPr>
            <a:solidFill xmlns:a="http://schemas.openxmlformats.org/drawingml/2006/main">
              <a:srgbClr val="A9C5E0"/>
            </a:solidFill>
          </c:spPr>
          <c:cat>
            <c:strRef>
              <c:f>'Chart Data'!$A$2:$A$4</c:f>
              <c:strCache>
                <c:ptCount val="3"/>
                <c:pt idx="0">
                  <c:v>5 seconds</c:v>
                </c:pt>
                <c:pt idx="1">
                  <c:v>30 seconds</c:v>
                </c:pt>
                <c:pt idx="2">
                  <c:v>60 seconds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0.247</c:v>
                </c:pt>
                <c:pt idx="1">
                  <c:v>0.604</c:v>
                </c:pt>
                <c:pt idx="2">
                  <c:v>0.798</c:v>
                </c:pt>
              </c:numCache>
            </c:numRef>
          </c:val>
        </c:ser>
        <c:ser>
          <c:idx val="1"/>
          <c:order val="1"/>
          <c:tx>
            <c:v>Test</c:v>
          </c:tx>
          <c:spPr>
            <a:solidFill xmlns:a="http://schemas.openxmlformats.org/drawingml/2006/main">
              <a:srgbClr val="2F6BFF"/>
            </a:solidFill>
          </c:spPr>
          <c:cat>
            <c:strRef>
              <c:f>'Chart Data'!$C$2:$C$4</c:f>
              <c:strCache>
                <c:ptCount val="3"/>
                <c:pt idx="0">
                  <c:v>5 seconds</c:v>
                </c:pt>
                <c:pt idx="1">
                  <c:v>30 seconds</c:v>
                </c:pt>
                <c:pt idx="2">
                  <c:v>60 seconds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0.17</c:v>
                </c:pt>
                <c:pt idx="1">
                  <c:v>0.6</c:v>
                </c:pt>
                <c:pt idx="2">
                  <c:v>0.805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243B5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C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243B53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73544-9100-4D33-A02C-12756CE6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00150"/>
            <a:ext cx="742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Predicting Limit Order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Fill Probability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036F1-8DDD-422F-A75E-6A76B875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9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D9E8FF"/>
                </a:solidFill>
                <a:latin typeface="Helvetica Neue"/>
                <a:ea typeface="Helvetica Neue"/>
                <a:cs typeface="Helvetica Neue"/>
              </a:rPr>
              <a:t>Across 5, 30 and 60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0552FE-0214-4132-A0F0-817C7B9F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8CC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8CCE4"/>
                </a:solidFill>
                <a:latin typeface="Helvetica Neue"/>
                <a:ea typeface="Helvetica Neue"/>
                <a:cs typeface="Helvetica Neue"/>
              </a:rPr>
              <a:t>Synthetic AAPL limit order book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866AB-B2F1-4700-B9A4-8D11C46F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Technical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F9827-BF5E-437D-8467-47A7BC03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19250"/>
            <a:ext cx="2857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10,000 orders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50 pre-submission snapshots per order</a:t>
            </a:r>
          </a:p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Chronological 14 / 3 / 3 day split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D92E1-05A7-47BA-A01D-7BFD656D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29E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29E4C"/>
                </a:solidFill>
                <a:latin typeface="Helvetica Neue"/>
                <a:ea typeface="Helvetica Neue"/>
                <a:cs typeface="Helvetica Neue"/>
              </a:rPr>
              <a:t>Execution probability, not price direction</a:t>
            </a:r>
          </a:p>
        </p:txBody>
      </p:sp>
    </p:spTree>
    <p:extLst>
      <p:ext uri="{BB962C8B-B14F-4D97-AF65-F5344CB8AC3E}">
        <p14:creationId xmlns:p14="http://schemas.microsoft.com/office/powerpoint/2010/main" val="16424478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28464D-3CE8-4CE7-AE32-998B271F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Two-file dataset and leakage-safe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2F5AA-3817-4EAD-939D-C1BC899C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Every predictor must be available before the observation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D0D6A-1EF7-41D6-A6E8-FF2ED88F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Orders workbook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FA857D-7E49-4A73-8342-B28E10E9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286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10,000 active orders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72 order-level columns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Static queue, LOB and recent-flow state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Eligibility and targets for 5s, 30s and 60s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34BA9-2977-4DFE-A078-94F24B13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14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50-snapshot history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00226A-9A5D-4894-9496-DCF0C5957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286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10,000 order objects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500,000 pre-submission snapshots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Price, spread, depth, imbalance and events</a:t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History features form feature set 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F5C7F-8E56-4F86-871F-D896460E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Joined one-to-one by order_id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800100" y="4629150"/>
          <a:ext xmlns:a="http://schemas.openxmlformats.org/drawingml/2006/main" cx="10591800" cy="1200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24250"/>
                <a:gridCol w="3524250"/>
                <a:gridCol w="3543300"/>
              </a:tblGrid>
              <a:tr h="60007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00075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20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7,000 orders | first 14 days</a:t>
                      </a:r>
                    </a:p>
                    <a:p>
                      <a:pPr algn="l"/>
                      <a:r>
                        <a:rPr sz="120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Fit models and preprocessing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1,500 orders | next 3 days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 model, calibration and 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20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1,500 orders | final 3 days</a:t>
                      </a:r>
                    </a:p>
                    <a:p>
                      <a:pPr algn="ctr"/>
                      <a:r>
                        <a:rPr sz="120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One frozen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06A25-2419-403B-A9ED-C252AEF1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Synthetic AAPL teaching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74EAA2-A5C5-440A-962E-CDC59160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1549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5E329-019F-44AD-BE2F-8C6B207F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Longer horizons are easier to rank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9BB0EE-D106-4462-AF2D-13BE6F18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Best validation PR-AUC within each model family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42950" y="1543050"/>
          <a:ext xmlns:a="http://schemas.openxmlformats.org/drawingml/2006/main" cx="10706100" cy="3886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8b9a6bdff8425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87C49-2952-438B-9773-7A58E121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483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All learned families beat the baseline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CEC24C-DF40-4892-A033-B5A09CD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6483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Logistic: 0.248 at 5s | 0.599 at 30s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EFC10-974D-49F6-8CC4-EF22EB9E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Random Forest: 0.789 at 60s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4997E-AF6F-4F9E-9ECA-55610C04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0960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Feature set D did not produce a stable validation gain over the best non-history candidate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D2DE2-2A5C-4D6A-A3EC-5C54152A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Synthetic AAPL teaching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106E5-77E5-4206-B8F8-41FFA71AB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040920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5B9548-FA92-4A4F-811F-26AE9448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Test performance holds at 30 and 60 seconds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D6C7E-4846-45A3-83EF-90706832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The 5-second model shows the largest validation-to-test drop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9e61286e204391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543800" y="1695450"/>
          <a:ext xmlns:a="http://schemas.openxmlformats.org/drawingml/2006/main" cx="3943350" cy="2724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628650"/>
                <a:gridCol w="819150"/>
                <a:gridCol w="647700"/>
                <a:gridCol w="600075"/>
                <a:gridCol w="571500"/>
                <a:gridCol w="676275"/>
              </a:tblGrid>
              <a:tr h="681038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Horizon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Brier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102A43"/>
                    </a:solidFill>
                  </a:tcPr>
                </a:tc>
              </a:tr>
              <a:tr h="6810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5s</a:t>
                      </a:r>
                    </a:p>
                  </a:txBody>
                  <a:tcPr marL="91440" marR="91440" marT="45720" marB="45720">
                    <a:solidFill>
                      <a:srgbClr val="FFF1E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B</a:t>
                      </a:r>
                    </a:p>
                  </a:txBody>
                  <a:tcPr marL="91440" marR="91440" marT="45720" marB="45720">
                    <a:solidFill>
                      <a:srgbClr val="FFF1E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0.122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10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30s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RF C</a:t>
                      </a: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0.600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0.230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0.611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0.746</a:t>
                      </a:r>
                    </a:p>
                  </a:txBody>
                  <a:tcPr marL="91440" marR="91440" marT="45720" marB="45720">
                    <a:solidFill>
                      <a:srgbClr val="F7F9FC"/>
                    </a:solidFill>
                  </a:tcPr>
                </a:tc>
              </a:tr>
              <a:tr h="681038"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60s</a:t>
                      </a:r>
                    </a:p>
                  </a:txBody>
                  <a:tcPr marL="91440" marR="91440" marT="45720" marB="45720">
                    <a:solidFill>
                      <a:srgbClr val="E7F7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RF C</a:t>
                      </a:r>
                    </a:p>
                  </a:txBody>
                  <a:tcPr marL="91440" marR="91440" marT="45720" marB="45720">
                    <a:solidFill>
                      <a:srgbClr val="E7F7F3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050">
                          <a:solidFill>
                            <a:srgbClr val="243B5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F468D-4F6B-4B1E-A6B5-B71F270C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705350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45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45D48"/>
                </a:solidFill>
                <a:latin typeface="Helvetica Neue"/>
                <a:ea typeface="Helvetica Neue"/>
                <a:cs typeface="Helvetica Neue"/>
              </a:rPr>
              <a:t>5s: 21 true positives and 151 missed fills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04CFA-8F88-47A5-859E-D357407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19700"/>
            <a:ext cx="3733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60s: recall is high, but 96.4% of eligible orders are classified as fills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A3C0E-CB37-4D93-A053-102D4120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0198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Test ECE: 0.014 | 0.035 | 0.028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04F1C-A2F1-43EE-BF37-0630F20C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Synthetic AAPL teaching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A3713-5C52-4198-987C-2FB7B2CC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79278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B9F44-097A-4538-B3E6-CB58796D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ORD007710 sits near the 30-second decision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2D65F-D254-4BE0-88F5-76FD6392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28700"/>
            <a:ext cx="1074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Random Forest probability 0.500 | actual outcome: fill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da3217cb24808"/>
          <a:stretch xmlns:a="http://schemas.openxmlformats.org/drawingml/2006/main"/>
        </p:blipFill>
        <p:spPr>
          <a:xfrm xmlns:a="http://schemas.openxmlformats.org/drawingml/2006/main">
            <a:off x="571500" y="2324864"/>
            <a:ext cx="7620000" cy="278929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C7DC3A-058C-4477-A154-FCF5674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Base probability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722481-A737-4D25-929E-564108A7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0.451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A82026-EBF3-4E54-A196-CDF0CB23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52750"/>
            <a:ext cx="29146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2F6BFF"/>
                </a:solidFill>
                <a:latin typeface="Helvetica Neue"/>
                <a:ea typeface="Helvetica Neue"/>
                <a:cs typeface="Helvetica Neue"/>
              </a:rPr>
              <a:t>Low queue-ahead quantity provides the strongest positive contribution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5284DD-C7AF-4D63-AE79-ED443960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38600"/>
            <a:ext cx="28003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45D4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45D48"/>
                </a:solidFill>
                <a:latin typeface="Helvetica Neue"/>
                <a:ea typeface="Helvetica Neue"/>
                <a:cs typeface="Helvetica Neue"/>
              </a:rPr>
              <a:t>Normalized queue position and recent trade count offset that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40A34-0078-4D1A-A492-9E95E510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495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Tree path</a:t>
            </a:r>
          </a:p>
          <a:p xmlns:a="http://schemas.openxmlformats.org/drawingml/2006/main">
            <a:pPr algn="ctr"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queue ahead &lt;= 250.5</a:t>
            </a:r>
          </a:p>
          <a:p xmlns:a="http://schemas.openxmlformats.org/drawingml/2006/main">
            <a:pPr algn="ctr">
              <a:def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aggressive flow &lt;= 248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48B1E-7D39-4BC3-B31A-8DBCFBAD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60198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8A999"/>
                </a:solidFill>
                <a:latin typeface="Helvetica Neue"/>
                <a:ea typeface="Helvetica Neue"/>
                <a:cs typeface="Helvetica Neue"/>
              </a:rPr>
              <a:t>LIME: mean top-feature Jaccard 0.821 across five seeds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B67393-EF6D-4004-94EB-C7FFB123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Synthetic AAPL teaching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5C668-3302-47B9-AB72-A9B2ED2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42600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44DCB-0090-4FC9-B008-4DAE485A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Queue priority explains most of the predictive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7ACC6-3339-4225-A6E6-8880DC0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What the study answers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FA6C3F-5256-4052-BDED-13E6BA43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RQ1  Learned models beat the empirical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RQ2  Fifty-snapshot history adds no stable lift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RQ3  Recent aggressive flow matters more at 30s and 60s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RQ4  Ranking and calibration are close, but not identical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RQ5  Side and day results are broadly similar, with subgroup variation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B28E8-683C-4B8A-84DE-7CD390C0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6685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Limits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F1E46-D433-4DCA-B2B1-2A9720E1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19300"/>
            <a:ext cx="4381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Synthetic single-symbol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Correlated LOB features complicate attribution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The 5-second model misses most fills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The 60-second F1 threshold predicts fills very often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Explanations describe association, not causality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88C1E-D191-4045-BE87-4C312554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8204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90AC53-FF67-446C-96DE-95BF0580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007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13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For this dataset, a static order-book plus recent-flow model offers the best balance of performance, simplicity and interpretability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A1F71-E079-45E9-AB16-79378E5A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Synthetic AAPL teaching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B30A87-73F9-4123-82B5-D432E908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516289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2026-10-04T18:03:33.2530000Z</dcterms:created>
  <dcterms:modified xsi:type="dcterms:W3CDTF">2026-10-04T18:03:33.2530000Z</dcterms:modified>
</coreProperties>
</file>